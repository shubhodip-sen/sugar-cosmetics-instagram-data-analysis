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51fb776-891c-5251-b360-5a91ccf7b378}">
          <p14:sldIdLst>
            <p14:sldId id="256"/>
          </p14:sldIdLst>
        </p14:section>
        <p14:section name="Findings" id="{86776e4f-48d8-8575-b019-569fb89bb6cf}">
          <p14:sldIdLst>
            <p14:sldId id="257"/>
            <p14:sldId id="258"/>
            <p14:sldId id="259"/>
            <p14:sldId id="260"/>
          </p14:sldIdLst>
        </p14:section>
        <p14:section name="Insight" id="{59a7f681-49ec-7f96-5174-b52c3935cbc1}">
          <p14:sldIdLst>
            <p14:sldId id="261"/>
          </p14:sldIdLst>
        </p14:section>
        <p14:section name="Action" id="{5840efe4-8b13-e37f-0d2d-e66a6a2cd16b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+mn-lt"/>
              </a:rPr>
              <a:t>Posts per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E6007E"/>
            </a:solidFill>
            <a:ln w="31750" cap="flat">
              <a:solidFill>
                <a:srgbClr val="E600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6007E"/>
              </a:solidFill>
              <a:ln w="9525" cap="flat">
                <a:solidFill>
                  <a:srgbClr val="E600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2024-04</c:v>
                  </c:pt>
                  <c:pt idx="1">
                    <c:v>2024-05</c:v>
                  </c:pt>
                  <c:pt idx="2">
                    <c:v>2024-06</c:v>
                  </c:pt>
                  <c:pt idx="3">
                    <c:v>2024-07</c:v>
                  </c:pt>
                  <c:pt idx="4">
                    <c:v>2024-08</c:v>
                  </c:pt>
                  <c:pt idx="5">
                    <c:v>2024-09</c:v>
                  </c:pt>
                  <c:pt idx="6">
                    <c:v>2024-10</c:v>
                  </c:pt>
                  <c:pt idx="7">
                    <c:v>2024-11</c:v>
                  </c:pt>
                  <c:pt idx="8">
                    <c:v>2024-12</c:v>
                  </c:pt>
                  <c:pt idx="9">
                    <c:v>2025-01</c:v>
                  </c:pt>
                  <c:pt idx="10">
                    <c:v>2025-02</c:v>
                  </c:pt>
                  <c:pt idx="11">
                    <c:v>2025-03</c:v>
                  </c:pt>
                  <c:pt idx="12">
                    <c:v>2025-04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1626</c:v>
                </c:pt>
                <c:pt idx="1">
                  <c:v>4250</c:v>
                </c:pt>
                <c:pt idx="2">
                  <c:v>4232</c:v>
                </c:pt>
                <c:pt idx="3">
                  <c:v>4121</c:v>
                </c:pt>
                <c:pt idx="4">
                  <c:v>4242</c:v>
                </c:pt>
                <c:pt idx="5">
                  <c:v>4160</c:v>
                </c:pt>
                <c:pt idx="6">
                  <c:v>4225</c:v>
                </c:pt>
                <c:pt idx="7">
                  <c:v>4075</c:v>
                </c:pt>
                <c:pt idx="8">
                  <c:v>4296</c:v>
                </c:pt>
                <c:pt idx="9">
                  <c:v>4244</c:v>
                </c:pt>
                <c:pt idx="10">
                  <c:v>3930</c:v>
                </c:pt>
                <c:pt idx="11">
                  <c:v>4139</c:v>
                </c:pt>
                <c:pt idx="12">
                  <c:v>2460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+mn-lt"/>
              </a:rPr>
              <a:t>Avg engagement rate % by post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 %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00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Image</c:v>
                  </c:pt>
                  <c:pt idx="1">
                    <c:v>Reel</c:v>
                  </c:pt>
                  <c:pt idx="2">
                    <c:v>Story</c:v>
                  </c:pt>
                  <c:pt idx="3">
                    <c:v>Video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18.43</c:v>
                </c:pt>
                <c:pt idx="1">
                  <c:v>18.61</c:v>
                </c:pt>
                <c:pt idx="2">
                  <c:v>18.6</c:v>
                </c:pt>
                <c:pt idx="3">
                  <c:v>18.51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.8"/>
          <c:min val="18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+mn-lt"/>
              </a:rPr>
              <a:t>Avg engagement rate % by weekday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 %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007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18.48</c:v>
                </c:pt>
                <c:pt idx="1">
                  <c:v>18.57</c:v>
                </c:pt>
                <c:pt idx="2">
                  <c:v>18.63</c:v>
                </c:pt>
                <c:pt idx="3">
                  <c:v>18.48</c:v>
                </c:pt>
                <c:pt idx="4">
                  <c:v>18.57</c:v>
                </c:pt>
                <c:pt idx="5">
                  <c:v>18.6</c:v>
                </c:pt>
                <c:pt idx="6">
                  <c:v>18.42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.8"/>
          <c:min val="18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+mn-lt"/>
              </a:rPr>
              <a:t>Actions as % of reach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reach</c:v>
                </c:pt>
              </c:strCache>
            </c:strRef>
          </c:tx>
          <c:spPr>
            <a:solidFill>
              <a:srgbClr val="E6007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00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Likes</c:v>
                  </c:pt>
                  <c:pt idx="1">
                    <c:v>Comments</c:v>
                  </c:pt>
                  <c:pt idx="2">
                    <c:v>Saves</c:v>
                  </c:pt>
                  <c:pt idx="3">
                    <c:v>Shares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1.9</c:v>
                </c:pt>
                <c:pt idx="2">
                  <c:v>0.9</c:v>
                </c:pt>
                <c:pt idx="3">
                  <c:v>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0"/>
        <c:axPos val="b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+mn-lt"/>
              </a:rPr>
              <a:t>Avg engagement rate % by hashtag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 %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007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#MakeupGoals</c:v>
                  </c:pt>
                  <c:pt idx="1">
                    <c:v>#SugarCosmetics</c:v>
                  </c:pt>
                  <c:pt idx="2">
                    <c:v>#CrueltyFree</c:v>
                  </c:pt>
                  <c:pt idx="3">
                    <c:v>#BoldLooks</c:v>
                  </c:pt>
                  <c:pt idx="4">
                    <c:v>#VeganBeauty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18.51</c:v>
                </c:pt>
                <c:pt idx="1">
                  <c:v>18.52</c:v>
                </c:pt>
                <c:pt idx="2">
                  <c:v>18.54</c:v>
                </c:pt>
                <c:pt idx="3">
                  <c:v>18.58</c:v>
                </c:pt>
                <c:pt idx="4">
                  <c:v>18.61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.7"/>
          <c:min val="18"/>
        </c:scaling>
        <c:delete val="0"/>
        <c:axPos val="b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Instagram Performance Analytics for Sugar Cosmetics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7A8D0"/>
                </a:solidFill>
              </a:rPr>
              <a:t>Insights and strategic recommendations · 50,000 posts · 19 Apr 2024 – 19 Apr 2025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D"/>
                </a:solidFill>
              </a:rPr>
              <a:t>Shubhodip · Data Analytics Internship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The account is healthy: 18.5% average engagement rate</a:t>
            </a:r>
            <a:endParaRPr lang="en-US" sz="2400" dirty="0"/>
          </a:p>
        </p:txBody>
      </p:sp>
      <p:sp>
        <p:nvSpPr>
          <p:cNvPr id="3" name="Card Posts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E8DD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50,000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Posts</a:t>
            </a:r>
            <a:endParaRPr lang="en-US" sz="1200" dirty="0"/>
          </a:p>
        </p:txBody>
      </p:sp>
      <p:sp>
        <p:nvSpPr>
          <p:cNvPr id="6" name="Card Likes"/>
          <p:cNvSpPr/>
          <p:nvPr/>
        </p:nvSpPr>
        <p:spPr>
          <a:xfrm>
            <a:off x="3291840" y="1188720"/>
            <a:ext cx="25603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E8DD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147.7M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Likes</a:t>
            </a:r>
            <a:endParaRPr lang="en-US" sz="1200" dirty="0"/>
          </a:p>
        </p:txBody>
      </p:sp>
      <p:sp>
        <p:nvSpPr>
          <p:cNvPr id="9" name="Card Comments"/>
          <p:cNvSpPr/>
          <p:nvPr/>
        </p:nvSpPr>
        <p:spPr>
          <a:xfrm>
            <a:off x="6126480" y="1188720"/>
            <a:ext cx="25603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E8DD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18.5M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Comments</a:t>
            </a:r>
            <a:endParaRPr lang="en-US" sz="1200" dirty="0"/>
          </a:p>
        </p:txBody>
      </p:sp>
      <p:sp>
        <p:nvSpPr>
          <p:cNvPr id="12" name="Card Total reach"/>
          <p:cNvSpPr/>
          <p:nvPr/>
        </p:nvSpPr>
        <p:spPr>
          <a:xfrm>
            <a:off x="457200" y="2834640"/>
            <a:ext cx="25603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E8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987M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Total reach</a:t>
            </a:r>
            <a:endParaRPr lang="en-US" sz="1200" dirty="0"/>
          </a:p>
        </p:txBody>
      </p:sp>
      <p:sp>
        <p:nvSpPr>
          <p:cNvPr id="15" name="Card Avg engagement rate"/>
          <p:cNvSpPr/>
          <p:nvPr/>
        </p:nvSpPr>
        <p:spPr>
          <a:xfrm>
            <a:off x="3291840" y="2834640"/>
            <a:ext cx="25603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E8DD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18.5%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Avg engagement rate</a:t>
            </a:r>
            <a:endParaRPr lang="en-US" sz="1200" dirty="0"/>
          </a:p>
        </p:txBody>
      </p:sp>
      <p:sp>
        <p:nvSpPr>
          <p:cNvPr id="18" name="Card Profile visit → follow"/>
          <p:cNvSpPr/>
          <p:nvPr/>
        </p:nvSpPr>
        <p:spPr>
          <a:xfrm>
            <a:off x="6126480" y="2834640"/>
            <a:ext cx="256032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E8DD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29.9%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Profile visit → follow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</a:rPr>
              <a:t>Engagement rate = (likes + comments + shares + saves) ÷ reach. 77% of impressions are unique reach (1.29 views per person).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Posting is steady; top posts follow no repeatable formula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1887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~4,100–4,300 posts every full month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Apr-24 and Apr-25 are partial months (data spans 19 Apr – 19 Apr)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Top 10 by engagement rate: 33.8–34.1%, nearly double the average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Those posts span every format and campaign – no repeatable pattern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Top 10 by likes (≈11,000–11,400) simply have very high reach (~45K)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Reels edge Images, Wednesday edges Sunday – by tiny margins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023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0" y="10058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</a:rPr>
              <a:t>Axes start at 18% to make small gaps visible: spreads are only 0.18 pp (type) and 0.21 pp (weekday). Stories drive the fewest follows (≈175 per post vs ≈179 for Images).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Saves and shares are the thinnest funnel layers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0058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</a:rPr>
              <a:t>Impressions 1,276M → reach 987M (77.4%). Posts with two hashtags average 18.63% vs 18.44% with one.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Key insight: performance is remarkably even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 single format, day, campaign or hashtag is a magic lever.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1920240"/>
                <a:gridCol w="128016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Worst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Spread (pp)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ANOVA 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Post type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Reel 18.61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Image 18.43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0.18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0.15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Weekday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Wed 18.63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Sun 18.42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0.21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0.57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Campaign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Influencer Collab 18.60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Festive Offer 18.44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0.16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0.48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Collab 18.59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Organic 18.44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0.15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0.35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Hashtag count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 tags 18.63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 tag 18.44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0.19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0.054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</a:rPr>
              <a:t>p &gt; 0.05 means the gap is within normal random variation. Treat any 'winner' as a hypothesis to test, not a rule.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Recommendations</a:t>
            </a:r>
            <a:endParaRPr lang="en-US" sz="2400" dirty="0"/>
          </a:p>
        </p:txBody>
      </p:sp>
      <p:sp>
        <p:nvSpPr>
          <p:cNvPr id="3" name="Rec card 1"/>
          <p:cNvSpPr/>
          <p:nvPr/>
        </p:nvSpPr>
        <p:spPr>
          <a:xfrm>
            <a:off x="457200" y="1097280"/>
            <a:ext cx="2606040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E8DDE3"/>
            </a:solidFill>
            <a:prstDash val="solid"/>
          </a:ln>
        </p:spPr>
      </p:sp>
      <p:sp>
        <p:nvSpPr>
          <p:cNvPr id="4" name="Accent 1"/>
          <p:cNvSpPr/>
          <p:nvPr/>
        </p:nvSpPr>
        <p:spPr>
          <a:xfrm>
            <a:off x="457200" y="1097280"/>
            <a:ext cx="64008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Lean toward Reels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Highest ER and saves; use for tutorials and launches. Validate with a test.</a:t>
            </a:r>
            <a:endParaRPr lang="en-US" sz="1150" dirty="0"/>
          </a:p>
        </p:txBody>
      </p:sp>
      <p:sp>
        <p:nvSpPr>
          <p:cNvPr id="7" name="Rec card 2"/>
          <p:cNvSpPr/>
          <p:nvPr/>
        </p:nvSpPr>
        <p:spPr>
          <a:xfrm>
            <a:off x="3246120" y="1097280"/>
            <a:ext cx="2606040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E8DDE3"/>
            </a:solidFill>
            <a:prstDash val="solid"/>
          </a:ln>
        </p:spPr>
      </p:sp>
      <p:sp>
        <p:nvSpPr>
          <p:cNvPr id="8" name="Accent 2"/>
          <p:cNvSpPr/>
          <p:nvPr/>
        </p:nvSpPr>
        <p:spPr>
          <a:xfrm>
            <a:off x="3246120" y="1097280"/>
            <a:ext cx="64008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07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Fix Stories follow journey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Add follow prompts and link stickers; Stories drive the fewest follows.</a:t>
            </a:r>
            <a:endParaRPr lang="en-US" sz="1150" dirty="0"/>
          </a:p>
        </p:txBody>
      </p:sp>
      <p:sp>
        <p:nvSpPr>
          <p:cNvPr id="11" name="Rec card 3"/>
          <p:cNvSpPr/>
          <p:nvPr/>
        </p:nvSpPr>
        <p:spPr>
          <a:xfrm>
            <a:off x="6035040" y="1097280"/>
            <a:ext cx="2606040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E8DDE3"/>
            </a:solidFill>
            <a:prstDash val="solid"/>
          </a:ln>
        </p:spPr>
      </p:sp>
      <p:sp>
        <p:nvSpPr>
          <p:cNvPr id="12" name="Accent 3"/>
          <p:cNvSpPr/>
          <p:nvPr/>
        </p:nvSpPr>
        <p:spPr>
          <a:xfrm>
            <a:off x="6035040" y="1097280"/>
            <a:ext cx="64008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07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Refresh Festive Offer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Lowest reach, likes and ER; pair with Giveaway / Influencer Collab mechanics.</a:t>
            </a:r>
            <a:endParaRPr lang="en-US" sz="1150" dirty="0"/>
          </a:p>
        </p:txBody>
      </p:sp>
      <p:sp>
        <p:nvSpPr>
          <p:cNvPr id="15" name="Rec card 4"/>
          <p:cNvSpPr/>
          <p:nvPr/>
        </p:nvSpPr>
        <p:spPr>
          <a:xfrm>
            <a:off x="457200" y="2880360"/>
            <a:ext cx="2606040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E8DDE3"/>
            </a:solidFill>
            <a:prstDash val="solid"/>
          </a:ln>
        </p:spPr>
      </p:sp>
      <p:sp>
        <p:nvSpPr>
          <p:cNvPr id="16" name="Accent 4"/>
          <p:cNvSpPr/>
          <p:nvPr/>
        </p:nvSpPr>
        <p:spPr>
          <a:xfrm>
            <a:off x="457200" y="2880360"/>
            <a:ext cx="64008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990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Review paid spend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29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Paid reach (≈19.6K) is below organic (≈20.0K); compare cost per follow.</a:t>
            </a:r>
            <a:endParaRPr lang="en-US" sz="1150" dirty="0"/>
          </a:p>
        </p:txBody>
      </p:sp>
      <p:sp>
        <p:nvSpPr>
          <p:cNvPr id="19" name="Rec card 5"/>
          <p:cNvSpPr/>
          <p:nvPr/>
        </p:nvSpPr>
        <p:spPr>
          <a:xfrm>
            <a:off x="3246120" y="2880360"/>
            <a:ext cx="2606040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E8DDE3"/>
            </a:solidFill>
            <a:prstDash val="solid"/>
          </a:ln>
        </p:spPr>
      </p:sp>
      <p:sp>
        <p:nvSpPr>
          <p:cNvPr id="20" name="Accent 5"/>
          <p:cNvSpPr/>
          <p:nvPr/>
        </p:nvSpPr>
        <p:spPr>
          <a:xfrm>
            <a:off x="3246120" y="2880360"/>
            <a:ext cx="64008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2990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Build for saves &amp; shares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429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Shade guides, how-to carousels, 'save for later' prompts.</a:t>
            </a:r>
            <a:endParaRPr lang="en-US" sz="1150" dirty="0"/>
          </a:p>
        </p:txBody>
      </p:sp>
      <p:sp>
        <p:nvSpPr>
          <p:cNvPr id="23" name="Rec card 6"/>
          <p:cNvSpPr/>
          <p:nvPr/>
        </p:nvSpPr>
        <p:spPr>
          <a:xfrm>
            <a:off x="6035040" y="2880360"/>
            <a:ext cx="2606040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E8DDE3"/>
            </a:solidFill>
            <a:prstDash val="solid"/>
          </a:ln>
        </p:spPr>
      </p:sp>
      <p:sp>
        <p:nvSpPr>
          <p:cNvPr id="24" name="Accent 6"/>
          <p:cNvSpPr/>
          <p:nvPr/>
        </p:nvSpPr>
        <p:spPr>
          <a:xfrm>
            <a:off x="6035040" y="2880360"/>
            <a:ext cx="64008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2990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Use 2–3 hashtags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429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Rotate #VeganBeauty and #BoldLooks into core posts.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Campaign ideas and next steps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Campaign ideas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#BoldLooksChallenge: followers recreate a signature Sugar look; best creators win a giveaway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Vegan &amp; Cruelty-Free, Explained: Reel series with saveable ingredient cards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Festive Collab Drop: influencer-led offer to lift the weakest campaign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Gaps and next steps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Data lacks captions, post time, spend, follower count and demographics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50,000 posts in a year suggests simulated data: validate before large budget moves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Growth is proxied by follows (flat ≈0.72M per full month)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Run one-variable A/B tests for 4–6 weeks and track cost per follow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gar">
  <a:themeElements>
    <a:clrScheme name="Sugar">
      <a:dk1>
        <a:srgbClr val="1A1A1A"/>
      </a:dk1>
      <a:lt1>
        <a:srgbClr val="FFFFFF"/>
      </a:lt1>
      <a:dk2>
        <a:srgbClr val="E6007E"/>
      </a:dk2>
      <a:lt2>
        <a:srgbClr val="F6F1F4"/>
      </a:lt2>
      <a:accent1>
        <a:srgbClr val="E6007E"/>
      </a:accent1>
      <a:accent2>
        <a:srgbClr val="1A1A1A"/>
      </a:accent2>
      <a:accent3>
        <a:srgbClr val="BDBDBD"/>
      </a:accent3>
      <a:accent4>
        <a:srgbClr val="F7A8D0"/>
      </a:accent4>
      <a:accent5>
        <a:srgbClr val="7A7A7A"/>
      </a:accent5>
      <a:accent6>
        <a:srgbClr val="FBD3E7"/>
      </a:accent6>
      <a:hlink>
        <a:srgbClr val="E6007E"/>
      </a:hlink>
      <a:folHlink>
        <a:srgbClr val="7A7A7A"/>
      </a:folHlink>
    </a:clrScheme>
    <a:fontScheme name="Suga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Performance Analytics for Sugar Cosmetics</dc:title>
  <dc:subject>PptxGenJS Presentation</dc:subject>
  <dc:creator>Shubhodip</dc:creator>
  <cp:lastModifiedBy>Shubhodip</cp:lastModifiedBy>
  <cp:revision>1</cp:revision>
  <dcterms:created xsi:type="dcterms:W3CDTF">2026-10-15T23:24:20Z</dcterms:created>
  <dcterms:modified xsi:type="dcterms:W3CDTF">2026-10-15T23:24:20Z</dcterms:modified>
</cp:coreProperties>
</file>